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Archivo Black" charset="1" panose="020B0A03020202020B04"/>
      <p:regular r:id="rId50"/>
    </p:embeddedFont>
    <p:embeddedFont>
      <p:font typeface="Open Sans" charset="1" panose="00000000000000000000"/>
      <p:regular r:id="rId51"/>
    </p:embeddedFont>
    <p:embeddedFont>
      <p:font typeface="Open Sans Bold" charset="1" panose="00000000000000000000"/>
      <p:regular r:id="rId52"/>
    </p:embeddedFont>
    <p:embeddedFont>
      <p:font typeface="Open Sans Italics" charset="1" panose="000000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Masters/notesMaster1.xml" Type="http://schemas.openxmlformats.org/officeDocument/2006/relationships/notesMaster"/><Relationship Id="rId55" Target="theme/theme2.xml" Type="http://schemas.openxmlformats.org/officeDocument/2006/relationships/theme"/><Relationship Id="rId56" Target="notesSlides/notesSlide1.xml" Type="http://schemas.openxmlformats.org/officeDocument/2006/relationships/notesSlide"/><Relationship Id="rId57" Target="notesSlides/notesSlide2.xml" Type="http://schemas.openxmlformats.org/officeDocument/2006/relationships/notesSlide"/><Relationship Id="rId58" Target="notesSlides/notesSlide3.xml" Type="http://schemas.openxmlformats.org/officeDocument/2006/relationships/notesSlide"/><Relationship Id="rId59" Target="notesSlides/notesSlide4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5.xml" Type="http://schemas.openxmlformats.org/officeDocument/2006/relationships/notesSlide"/><Relationship Id="rId61" Target="notesSlides/notesSlide6.xml" Type="http://schemas.openxmlformats.org/officeDocument/2006/relationships/notesSlide"/><Relationship Id="rId62" Target="notesSlides/notesSlide7.xml" Type="http://schemas.openxmlformats.org/officeDocument/2006/relationships/notesSlide"/><Relationship Id="rId63" Target="notesSlides/notesSlide8.xml" Type="http://schemas.openxmlformats.org/officeDocument/2006/relationships/notesSlide"/><Relationship Id="rId64" Target="notesSlides/notesSlide9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Let’s now take a closer look at the results and evaluation phase of our project.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Throughout this project, we experimented with different combinations of datasets, </a:t>
            </a:r>
          </a:p>
          <a:p>
            <a:r>
              <a:rPr lang="en-US"/>
              <a:t>preprocessing techniques, and machine learning models. Our goal was to identify the most </a:t>
            </a:r>
          </a:p>
          <a:p>
            <a:r>
              <a:rPr lang="en-US"/>
              <a:t>efficient and accurate setup for detecting phishing URLs. </a:t>
            </a:r>
          </a:p>
          <a:p>
            <a:r>
              <a:rPr lang="en-US"/>
              <a:t>We evaluated several machine learning approaches, including Random Forest, LightGBM, and </a:t>
            </a:r>
          </a:p>
          <a:p>
            <a:r>
              <a:rPr lang="en-US"/>
              <a:t>a CNN-based deep learning model. We also experimented with ensemble techniques like </a:t>
            </a:r>
          </a:p>
          <a:p>
            <a:r>
              <a:rPr lang="en-US"/>
              <a:t>stacking LightGBM and CNN, aiming to combine their strengths.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Throughout this project, we experimented with different combinations of datasets, </a:t>
            </a:r>
          </a:p>
          <a:p>
            <a:r>
              <a:rPr lang="en-US"/>
              <a:t>preprocessing techniques, and machine learning models. Our goal was to identify the most </a:t>
            </a:r>
          </a:p>
          <a:p>
            <a:r>
              <a:rPr lang="en-US"/>
              <a:t>efficient and accurate setup for detecting phishing URLs. </a:t>
            </a:r>
          </a:p>
          <a:p>
            <a:r>
              <a:rPr lang="en-US"/>
              <a:t>We evaluated several machine learning approaches, including Random Forest, LightGBM, and </a:t>
            </a:r>
          </a:p>
          <a:p>
            <a:r>
              <a:rPr lang="en-US"/>
              <a:t>a CNN-based deep learning model. We also experimented with ensemble techniques like </a:t>
            </a:r>
          </a:p>
          <a:p>
            <a:r>
              <a:rPr lang="en-US"/>
              <a:t>stacking LightGBM and CNN, aiming to combine their strengths.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 rigorous testing, the best performance came from the LightGBM model, especially when </a:t>
            </a:r>
          </a:p>
          <a:p>
            <a:r>
              <a:rPr lang="en-US"/>
              <a:t>paired with Recursive Feature Elimination with Cross-Validation for feature selection. This </a:t>
            </a:r>
          </a:p>
          <a:p>
            <a:r>
              <a:rPr lang="en-US"/>
              <a:t>setup, applied to the PhishFOE dataset, consistently delivered the highest accuracy and </a:t>
            </a:r>
          </a:p>
          <a:p>
            <a:r>
              <a:rPr lang="en-US"/>
              <a:t>robustness. </a:t>
            </a:r>
          </a:p>
          <a:p>
            <a:r>
              <a:rPr lang="en-US"/>
              <a:t>These results confirm the effectiveness of gradient boosting in phishing detection tasks, </a:t>
            </a:r>
          </a:p>
          <a:p>
            <a:r>
              <a:rPr lang="en-US"/>
              <a:t>especially when enhanced with strong feature engineering and selection.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 rigorous testing, the best performance came from the LightGBM model, especially when </a:t>
            </a:r>
          </a:p>
          <a:p>
            <a:r>
              <a:rPr lang="en-US"/>
              <a:t>paired with Recursive Feature Elimination with Cross-Validation for feature selection. This </a:t>
            </a:r>
          </a:p>
          <a:p>
            <a:r>
              <a:rPr lang="en-US"/>
              <a:t>setup, applied to the PhishFOE dataset, consistently delivered the highest accuracy and </a:t>
            </a:r>
          </a:p>
          <a:p>
            <a:r>
              <a:rPr lang="en-US"/>
              <a:t>robustness. </a:t>
            </a:r>
          </a:p>
          <a:p>
            <a:r>
              <a:rPr lang="en-US"/>
              <a:t>These results confirm the effectiveness of gradient boosting in phishing detection tasks, </a:t>
            </a:r>
          </a:p>
          <a:p>
            <a:r>
              <a:rPr lang="en-US"/>
              <a:t>especially when enhanced with strong feature engineering and selection.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 rigorous testing, the best performance came from the LightGBM model, especially when </a:t>
            </a:r>
          </a:p>
          <a:p>
            <a:r>
              <a:rPr lang="en-US"/>
              <a:t>paired with Recursive Feature Elimination with Cross-Validation for feature selection. This </a:t>
            </a:r>
          </a:p>
          <a:p>
            <a:r>
              <a:rPr lang="en-US"/>
              <a:t>setup, applied to the PhishFOE dataset, consistently delivered the highest accuracy and </a:t>
            </a:r>
          </a:p>
          <a:p>
            <a:r>
              <a:rPr lang="en-US"/>
              <a:t>robustness. </a:t>
            </a:r>
          </a:p>
          <a:p>
            <a:r>
              <a:rPr lang="en-US"/>
              <a:t>These results confirm the effectiveness of gradient boosting in phishing detection tasks, </a:t>
            </a:r>
          </a:p>
          <a:p>
            <a:r>
              <a:rPr lang="en-US"/>
              <a:t>especially when enhanced with strong feature engineering and selection.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 rigorous testing, the best performance came from the LightGBM model, especially when </a:t>
            </a:r>
          </a:p>
          <a:p>
            <a:r>
              <a:rPr lang="en-US"/>
              <a:t>paired with Recursive Feature Elimination with Cross-Validation for feature selection. This </a:t>
            </a:r>
          </a:p>
          <a:p>
            <a:r>
              <a:rPr lang="en-US"/>
              <a:t>setup, applied to the PhishFOE dataset, consistently delivered the highest accuracy and </a:t>
            </a:r>
          </a:p>
          <a:p>
            <a:r>
              <a:rPr lang="en-US"/>
              <a:t>robustness. </a:t>
            </a:r>
          </a:p>
          <a:p>
            <a:r>
              <a:rPr lang="en-US"/>
              <a:t>These results confirm the effectiveness of gradient boosting in phishing detection tasks, </a:t>
            </a:r>
          </a:p>
          <a:p>
            <a:r>
              <a:rPr lang="en-US"/>
              <a:t>especially when enhanced with strong feature engineering and selection.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classification report further validated our findings. Precision, recall, and F1-scores all </a:t>
            </a:r>
          </a:p>
          <a:p>
            <a:r>
              <a:rPr lang="en-US"/>
              <a:t>pointed to a well-balanced model with high reliability in detecting phishing URLs and minimizing </a:t>
            </a:r>
          </a:p>
          <a:p>
            <a:r>
              <a:rPr lang="en-US"/>
              <a:t>false positives.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After rigorous testing, the best performance came from the LightGBM model, especially when </a:t>
            </a:r>
          </a:p>
          <a:p>
            <a:r>
              <a:rPr lang="en-US"/>
              <a:t>paired with Recursive Feature Elimination with Cross-Validation for feature selection. This </a:t>
            </a:r>
          </a:p>
          <a:p>
            <a:r>
              <a:rPr lang="en-US"/>
              <a:t>setup, applied to the PhishFOE dataset, consistently delivered the highest accuracy and </a:t>
            </a:r>
          </a:p>
          <a:p>
            <a:r>
              <a:rPr lang="en-US"/>
              <a:t>robustness. </a:t>
            </a:r>
          </a:p>
          <a:p>
            <a:r>
              <a:rPr lang="en-US"/>
              <a:t>These results confirm the effectiveness of gradient boosting in phishing detection tasks, </a:t>
            </a:r>
          </a:p>
          <a:p>
            <a:r>
              <a:rPr lang="en-US"/>
              <a:t>especially when enhanced with strong feature engineering and selection.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jpeg" Type="http://schemas.openxmlformats.org/officeDocument/2006/relationships/image"/><Relationship Id="rId3" Target="../media/VAGlsx3L1UY.mp4" Type="http://schemas.openxmlformats.org/officeDocument/2006/relationships/video"/><Relationship Id="rId4" Target="../media/VAGlsx3L1UY.mp4" Type="http://schemas.microsoft.com/office/2007/relationships/media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8742" y="2748993"/>
            <a:ext cx="6686234" cy="4789015"/>
          </a:xfrm>
          <a:custGeom>
            <a:avLst/>
            <a:gdLst/>
            <a:ahLst/>
            <a:cxnLst/>
            <a:rect r="r" b="b" t="t" l="l"/>
            <a:pathLst>
              <a:path h="4789015" w="6686234">
                <a:moveTo>
                  <a:pt x="0" y="0"/>
                </a:moveTo>
                <a:lnTo>
                  <a:pt x="6686234" y="0"/>
                </a:lnTo>
                <a:lnTo>
                  <a:pt x="6686234" y="4789014"/>
                </a:lnTo>
                <a:lnTo>
                  <a:pt x="0" y="4789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8620" y="1446061"/>
            <a:ext cx="9132747" cy="450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15"/>
              </a:lnSpc>
            </a:pPr>
            <a:r>
              <a:rPr lang="en-US" sz="10650" spc="213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URL </a:t>
            </a:r>
            <a:r>
              <a:rPr lang="en-US" sz="10650" spc="213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PHISHING</a:t>
            </a:r>
          </a:p>
          <a:p>
            <a:pPr algn="l" marL="0" indent="0" lvl="0">
              <a:lnSpc>
                <a:spcPts val="11715"/>
              </a:lnSpc>
            </a:pPr>
            <a:r>
              <a:rPr lang="en-US" sz="10650" spc="213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DETECTION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8620" y="6222576"/>
            <a:ext cx="606679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Think Before You Click!</a:t>
            </a:r>
          </a:p>
        </p:txBody>
      </p:sp>
      <p:sp>
        <p:nvSpPr>
          <p:cNvPr name="AutoShape 5" id="5"/>
          <p:cNvSpPr/>
          <p:nvPr/>
        </p:nvSpPr>
        <p:spPr>
          <a:xfrm>
            <a:off x="848620" y="6005679"/>
            <a:ext cx="7737124" cy="0"/>
          </a:xfrm>
          <a:prstGeom prst="line">
            <a:avLst/>
          </a:prstGeom>
          <a:ln cap="flat" w="104775">
            <a:solidFill>
              <a:srgbClr val="F6E7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914573" y="6806776"/>
            <a:ext cx="606679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59" b="tru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Realised By :</a:t>
            </a:r>
          </a:p>
          <a:p>
            <a:pPr algn="l">
              <a:lnSpc>
                <a:spcPts val="4199"/>
              </a:lnSpc>
            </a:pPr>
            <a:r>
              <a:rPr lang="en-US" sz="2999" spc="59" b="tru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Nejmeddin Ben Maâtoug</a:t>
            </a:r>
          </a:p>
          <a:p>
            <a:pPr algn="l">
              <a:lnSpc>
                <a:spcPts val="4199"/>
              </a:lnSpc>
            </a:pPr>
            <a:r>
              <a:rPr lang="en-US" sz="2999" spc="59" b="tru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Hamza Hentati</a:t>
            </a:r>
          </a:p>
          <a:p>
            <a:pPr algn="l">
              <a:lnSpc>
                <a:spcPts val="4199"/>
              </a:lnSpc>
            </a:pPr>
            <a:r>
              <a:rPr lang="en-US" sz="2999" spc="59" b="tru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Bachar Tounsi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21207" y="7816426"/>
            <a:ext cx="606679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The 26</a:t>
            </a: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</a:t>
            </a: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April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18301" y="9067800"/>
            <a:ext cx="1027603" cy="99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9916" y="400050"/>
            <a:ext cx="1086325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12371" y="2789050"/>
            <a:ext cx="299344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19580" y="4791349"/>
            <a:ext cx="326356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3766" y="6817522"/>
            <a:ext cx="438906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Results and Evaluation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73108" y="2355156"/>
            <a:ext cx="1239263" cy="1239263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73108" y="2263143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 u="non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73108" y="4369602"/>
            <a:ext cx="1239263" cy="1239263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473108" y="4207974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73108" y="6358611"/>
            <a:ext cx="1239263" cy="1239263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473108" y="6266597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1231" y="2126556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 u="non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1231" y="3978261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 u="non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1231" y="6424963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 u="none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51231" y="2355156"/>
            <a:ext cx="1239263" cy="1239263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51231" y="4369602"/>
            <a:ext cx="1239263" cy="123926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51231" y="6380390"/>
            <a:ext cx="1239263" cy="1239263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74084" y="2789050"/>
            <a:ext cx="380540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51231" y="2496178"/>
            <a:ext cx="123926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b="true" sz="6399" spc="127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51231" y="4550684"/>
            <a:ext cx="123926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b="true" sz="6399" spc="127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51231" y="6551840"/>
            <a:ext cx="123926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b="true" sz="6399" spc="127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90494" y="4803496"/>
            <a:ext cx="383398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96157" y="6926552"/>
            <a:ext cx="438906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473108" y="8197441"/>
            <a:ext cx="1239263" cy="1239263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473108" y="8105428"/>
            <a:ext cx="1239263" cy="119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047"/>
              </a:lnSpc>
              <a:spcBef>
                <a:spcPct val="0"/>
              </a:spcBef>
            </a:pPr>
            <a:r>
              <a:rPr lang="en-US" b="true" sz="6399" spc="319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72130" y="8702266"/>
            <a:ext cx="353368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101730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23736" y="1032286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8" y="0"/>
                </a:lnTo>
                <a:lnTo>
                  <a:pt x="4440528" y="3180528"/>
                </a:lnTo>
                <a:lnTo>
                  <a:pt x="0" y="318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8646" y="5200650"/>
            <a:ext cx="13130708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Don't share your personal information online!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75438" y="4443207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617126" y="6775979"/>
            <a:ext cx="737744" cy="80189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72811" y="439479"/>
            <a:ext cx="6610201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PHISHING?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11255"/>
            <a:ext cx="7771189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Phishing is a type of cyberattack aimed at stealing sensitive information like passwords or credit card numbers.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Attackers impersonate trustworthy entities to deceive victims via an URL</a:t>
            </a:r>
          </a:p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 phishing URL is a fraudulent web address that mimics legitimate websites.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529581" y="6747404"/>
            <a:ext cx="445007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true">
                <a:solidFill>
                  <a:srgbClr val="DBF3F7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Think of an email or message you received that asked for personal information. What made it suspicious?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550765" y="2712780"/>
            <a:ext cx="5428887" cy="3576279"/>
          </a:xfrm>
          <a:custGeom>
            <a:avLst/>
            <a:gdLst/>
            <a:ahLst/>
            <a:cxnLst/>
            <a:rect r="r" b="b" t="t" l="l"/>
            <a:pathLst>
              <a:path h="3576279" w="5428887">
                <a:moveTo>
                  <a:pt x="0" y="0"/>
                </a:moveTo>
                <a:lnTo>
                  <a:pt x="5428887" y="0"/>
                </a:lnTo>
                <a:lnTo>
                  <a:pt x="5428887" y="3576279"/>
                </a:lnTo>
                <a:lnTo>
                  <a:pt x="0" y="3576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" y="725302"/>
            <a:ext cx="15629587" cy="8836397"/>
          </a:xfrm>
          <a:custGeom>
            <a:avLst/>
            <a:gdLst/>
            <a:ahLst/>
            <a:cxnLst/>
            <a:rect r="r" b="b" t="t" l="l"/>
            <a:pathLst>
              <a:path h="8836397" w="15629587">
                <a:moveTo>
                  <a:pt x="0" y="0"/>
                </a:moveTo>
                <a:lnTo>
                  <a:pt x="15629587" y="0"/>
                </a:lnTo>
                <a:lnTo>
                  <a:pt x="15629587" y="8836396"/>
                </a:lnTo>
                <a:lnTo>
                  <a:pt x="0" y="8836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05" r="-2880" b="-47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5610" y="1954493"/>
            <a:ext cx="8824656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14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P</a:t>
            </a:r>
            <a:r>
              <a:rPr lang="en-US" sz="7000" spc="14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HISHING URL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85610" y="5086350"/>
            <a:ext cx="8824656" cy="37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014" indent="-326007" lvl="1">
              <a:lnSpc>
                <a:spcPts val="4227"/>
              </a:lnSpc>
              <a:buFont typeface="Arial"/>
              <a:buChar char="•"/>
            </a:pPr>
            <a:r>
              <a:rPr lang="en-US" sz="3019" spc="6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Detects deceptive web addresses that mimic legitimate sites to trick users.</a:t>
            </a:r>
          </a:p>
          <a:p>
            <a:pPr algn="l">
              <a:lnSpc>
                <a:spcPts val="4227"/>
              </a:lnSpc>
            </a:pPr>
          </a:p>
          <a:p>
            <a:pPr algn="l" marL="652014" indent="-326007" lvl="1">
              <a:lnSpc>
                <a:spcPts val="4227"/>
              </a:lnSpc>
              <a:buFont typeface="Arial"/>
              <a:buChar char="•"/>
            </a:pPr>
            <a:r>
              <a:rPr lang="en-US" sz="3019" spc="6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Uses algorithms and heuristics to analyze URLs for suspicious traits.</a:t>
            </a:r>
          </a:p>
          <a:p>
            <a:pPr algn="l">
              <a:lnSpc>
                <a:spcPts val="422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2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56628" y="2621131"/>
            <a:ext cx="3815083" cy="5044738"/>
          </a:xfrm>
          <a:custGeom>
            <a:avLst/>
            <a:gdLst/>
            <a:ahLst/>
            <a:cxnLst/>
            <a:rect r="r" b="b" t="t" l="l"/>
            <a:pathLst>
              <a:path h="5044738" w="3815083">
                <a:moveTo>
                  <a:pt x="0" y="0"/>
                </a:moveTo>
                <a:lnTo>
                  <a:pt x="3815083" y="0"/>
                </a:lnTo>
                <a:lnTo>
                  <a:pt x="3815083" y="5044738"/>
                </a:lnTo>
                <a:lnTo>
                  <a:pt x="0" y="5044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7007" y="1961463"/>
            <a:ext cx="8343474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49"/>
              </a:lnSpc>
            </a:pPr>
            <a:r>
              <a:rPr lang="en-US" sz="6499" spc="129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1826" y="3935312"/>
            <a:ext cx="7805772" cy="407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349" indent="-361675" lvl="1">
              <a:lnSpc>
                <a:spcPts val="4690"/>
              </a:lnSpc>
              <a:buFont typeface="Arial"/>
              <a:buChar char="•"/>
            </a:pPr>
            <a:r>
              <a:rPr lang="en-US" sz="3350" spc="6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Focuses on building a robust system to detect phishing URLs using machine learning.</a:t>
            </a:r>
          </a:p>
          <a:p>
            <a:pPr algn="l">
              <a:lnSpc>
                <a:spcPts val="4690"/>
              </a:lnSpc>
            </a:pPr>
          </a:p>
          <a:p>
            <a:pPr algn="l" marL="723349" indent="-361675" lvl="1">
              <a:lnSpc>
                <a:spcPts val="4690"/>
              </a:lnSpc>
              <a:buFont typeface="Arial"/>
              <a:buChar char="•"/>
            </a:pPr>
            <a:r>
              <a:rPr lang="en-US" sz="3350" spc="6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Integrates ML models to improve detection efficiency and accuracy.</a:t>
            </a:r>
          </a:p>
          <a:p>
            <a:pPr algn="l" marL="0" indent="0" lvl="0">
              <a:lnSpc>
                <a:spcPts val="469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83483" y="3866927"/>
            <a:ext cx="4631176" cy="3278486"/>
          </a:xfrm>
          <a:custGeom>
            <a:avLst/>
            <a:gdLst/>
            <a:ahLst/>
            <a:cxnLst/>
            <a:rect r="r" b="b" t="t" l="l"/>
            <a:pathLst>
              <a:path h="3278486" w="4631176">
                <a:moveTo>
                  <a:pt x="0" y="0"/>
                </a:moveTo>
                <a:lnTo>
                  <a:pt x="4631176" y="0"/>
                </a:lnTo>
                <a:lnTo>
                  <a:pt x="4631176" y="3278486"/>
                </a:lnTo>
                <a:lnTo>
                  <a:pt x="0" y="327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8646" y="5200650"/>
            <a:ext cx="13636227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 fake link can sink your ship!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88149" y="733107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7" y="0"/>
                </a:lnTo>
                <a:lnTo>
                  <a:pt x="4440527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39850" y="4292600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0429" y="1406925"/>
            <a:ext cx="10062709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RADITIONAL PHISHING DETECTION TOOLS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80429" y="4712942"/>
            <a:ext cx="8824656" cy="408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424" indent="-315212" lvl="1">
              <a:lnSpc>
                <a:spcPts val="4087"/>
              </a:lnSpc>
              <a:buFont typeface="Arial"/>
              <a:buChar char="•"/>
            </a:pPr>
            <a:r>
              <a:rPr lang="en-US" sz="2919" spc="58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Traditional methods like blacklists, heuristics, and content checks are insufficient against modern phishing attacks.</a:t>
            </a:r>
          </a:p>
          <a:p>
            <a:pPr algn="l">
              <a:lnSpc>
                <a:spcPts val="4087"/>
              </a:lnSpc>
            </a:pPr>
          </a:p>
          <a:p>
            <a:pPr algn="l" marL="630424" indent="-315212" lvl="1">
              <a:lnSpc>
                <a:spcPts val="408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spc="58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Machine learning is now essential for strengthening cybersecurity defenses as it provides fast detection and proactive strategies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0768" y="2199549"/>
            <a:ext cx="4155453" cy="5887902"/>
          </a:xfrm>
          <a:custGeom>
            <a:avLst/>
            <a:gdLst/>
            <a:ahLst/>
            <a:cxnLst/>
            <a:rect r="r" b="b" t="t" l="l"/>
            <a:pathLst>
              <a:path h="5887902" w="4155453">
                <a:moveTo>
                  <a:pt x="0" y="0"/>
                </a:moveTo>
                <a:lnTo>
                  <a:pt x="4155454" y="0"/>
                </a:lnTo>
                <a:lnTo>
                  <a:pt x="4155454" y="5887902"/>
                </a:lnTo>
                <a:lnTo>
                  <a:pt x="0" y="588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8646" y="5200650"/>
            <a:ext cx="13636227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Hover before you discover!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18556" y="803600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7" y="0"/>
                </a:lnTo>
                <a:lnTo>
                  <a:pt x="4440527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0257" y="4294634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1826" y="2181516"/>
            <a:ext cx="834347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1826" y="3456632"/>
            <a:ext cx="8760776" cy="46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5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Aims to build an AI-based model for accurate      phishing website detection to boost cybersecurity following 3 steps :</a:t>
            </a:r>
          </a:p>
          <a:p>
            <a:pPr algn="l">
              <a:lnSpc>
                <a:spcPts val="4199"/>
              </a:lnSpc>
            </a:pP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Collection And Preprocessing</a:t>
            </a:r>
          </a:p>
          <a:p>
            <a:pPr algn="l">
              <a:lnSpc>
                <a:spcPts val="4199"/>
              </a:lnSpc>
            </a:pP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Training</a:t>
            </a:r>
          </a:p>
          <a:p>
            <a:pPr algn="l">
              <a:lnSpc>
                <a:spcPts val="4199"/>
              </a:lnSpc>
            </a:pP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Integration and Development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097472" y="3504257"/>
            <a:ext cx="4938262" cy="4419745"/>
          </a:xfrm>
          <a:custGeom>
            <a:avLst/>
            <a:gdLst/>
            <a:ahLst/>
            <a:cxnLst/>
            <a:rect r="r" b="b" t="t" l="l"/>
            <a:pathLst>
              <a:path h="4419745" w="4938262">
                <a:moveTo>
                  <a:pt x="0" y="0"/>
                </a:moveTo>
                <a:lnTo>
                  <a:pt x="4938262" y="0"/>
                </a:lnTo>
                <a:lnTo>
                  <a:pt x="4938262" y="4419744"/>
                </a:lnTo>
                <a:lnTo>
                  <a:pt x="0" y="4419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0706" y="5201667"/>
            <a:ext cx="13636227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 short URL might hide a long regret!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18556" y="803600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7" y="0"/>
                </a:lnTo>
                <a:lnTo>
                  <a:pt x="4440527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0257" y="4294634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74466" y="1959265"/>
            <a:ext cx="7939067" cy="7996846"/>
          </a:xfrm>
          <a:custGeom>
            <a:avLst/>
            <a:gdLst/>
            <a:ahLst/>
            <a:cxnLst/>
            <a:rect r="r" b="b" t="t" l="l"/>
            <a:pathLst>
              <a:path h="7996846" w="7939067">
                <a:moveTo>
                  <a:pt x="0" y="0"/>
                </a:moveTo>
                <a:lnTo>
                  <a:pt x="7939068" y="0"/>
                </a:lnTo>
                <a:lnTo>
                  <a:pt x="7939068" y="7996846"/>
                </a:lnTo>
                <a:lnTo>
                  <a:pt x="0" y="799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5" r="-885" b="-7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1921" y="914053"/>
            <a:ext cx="14604159" cy="10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0"/>
              </a:lnSpc>
            </a:pPr>
            <a:r>
              <a:rPr lang="en-US" sz="7300" spc="146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CRISP-DM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1552" y="300489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Business Understanding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0958" y="2994221"/>
            <a:ext cx="696206" cy="581051"/>
            <a:chOff x="0" y="0"/>
            <a:chExt cx="76084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50958" y="293443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 u="none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01552" y="4222643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Data Understanding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0958" y="4211972"/>
            <a:ext cx="696206" cy="581051"/>
            <a:chOff x="0" y="0"/>
            <a:chExt cx="7608474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50958" y="4152188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1552" y="550098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Data Preparation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0958" y="5490311"/>
            <a:ext cx="696206" cy="581051"/>
            <a:chOff x="0" y="0"/>
            <a:chExt cx="7608474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50958" y="543052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1552" y="6722399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50958" y="6711728"/>
            <a:ext cx="696206" cy="581051"/>
            <a:chOff x="0" y="0"/>
            <a:chExt cx="7608474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50958" y="6651945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603774" y="1407092"/>
            <a:ext cx="7939067" cy="7996846"/>
          </a:xfrm>
          <a:custGeom>
            <a:avLst/>
            <a:gdLst/>
            <a:ahLst/>
            <a:cxnLst/>
            <a:rect r="r" b="b" t="t" l="l"/>
            <a:pathLst>
              <a:path h="7996846" w="7939067">
                <a:moveTo>
                  <a:pt x="0" y="0"/>
                </a:moveTo>
                <a:lnTo>
                  <a:pt x="7939067" y="0"/>
                </a:lnTo>
                <a:lnTo>
                  <a:pt x="7939067" y="7996846"/>
                </a:lnTo>
                <a:lnTo>
                  <a:pt x="0" y="799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5" r="-885" b="-7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15489" y="1418391"/>
            <a:ext cx="8824656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14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DATASETS EXPLORATION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15489" y="3858599"/>
            <a:ext cx="8824656" cy="494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3" indent="-336802" lvl="1">
              <a:lnSpc>
                <a:spcPts val="4367"/>
              </a:lnSpc>
              <a:buFont typeface="Arial"/>
              <a:buChar char="•"/>
            </a:pPr>
            <a:r>
              <a:rPr lang="en-US" sz="3119" spc="6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Explored multiple datasets sourced mainly from Kaggle and GitHub.</a:t>
            </a:r>
          </a:p>
          <a:p>
            <a:pPr algn="l">
              <a:lnSpc>
                <a:spcPts val="4367"/>
              </a:lnSpc>
            </a:pPr>
          </a:p>
          <a:p>
            <a:pPr algn="l" marL="673603" indent="-336802" lvl="1">
              <a:lnSpc>
                <a:spcPts val="4367"/>
              </a:lnSpc>
              <a:buFont typeface="Arial"/>
              <a:buChar char="•"/>
            </a:pPr>
            <a:r>
              <a:rPr lang="en-US" sz="3119" spc="6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Datasets contain both phishing and legitimate URLs for balanced learning.</a:t>
            </a:r>
          </a:p>
          <a:p>
            <a:pPr algn="l">
              <a:lnSpc>
                <a:spcPts val="4367"/>
              </a:lnSpc>
            </a:pPr>
          </a:p>
          <a:p>
            <a:pPr algn="l" marL="673603" indent="-336802" lvl="1">
              <a:lnSpc>
                <a:spcPts val="4367"/>
              </a:lnSpc>
              <a:buFont typeface="Arial"/>
              <a:buChar char="•"/>
            </a:pPr>
            <a:r>
              <a:rPr lang="en-US" sz="3119" spc="6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The variety ensures better model generalization unseen URLs.</a:t>
            </a:r>
          </a:p>
          <a:p>
            <a:pPr algn="l">
              <a:lnSpc>
                <a:spcPts val="436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620" y="3247072"/>
            <a:ext cx="5557663" cy="4362766"/>
          </a:xfrm>
          <a:custGeom>
            <a:avLst/>
            <a:gdLst/>
            <a:ahLst/>
            <a:cxnLst/>
            <a:rect r="r" b="b" t="t" l="l"/>
            <a:pathLst>
              <a:path h="4362766" w="5557663">
                <a:moveTo>
                  <a:pt x="0" y="0"/>
                </a:moveTo>
                <a:lnTo>
                  <a:pt x="5557663" y="0"/>
                </a:lnTo>
                <a:lnTo>
                  <a:pt x="5557663" y="4362766"/>
                </a:lnTo>
                <a:lnTo>
                  <a:pt x="0" y="436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37443"/>
            <a:ext cx="11679863" cy="419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 spc="5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-US" sz="2643" spc="52" b="true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PhishFOE dataset</a:t>
            </a:r>
            <a:r>
              <a:rPr lang="en-US" sz="2643" spc="5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is a recent and extensive resource developed for phishing detection using machine learning. It comprises </a:t>
            </a:r>
            <a:r>
              <a:rPr lang="en-US" sz="2643" spc="52" b="true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101,083</a:t>
            </a:r>
            <a:r>
              <a:rPr lang="en-US" sz="2643" spc="5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labeled URLs, with </a:t>
            </a:r>
            <a:r>
              <a:rPr lang="en-US" sz="2643" spc="52" b="true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32</a:t>
            </a:r>
            <a:r>
              <a:rPr lang="en-US" sz="2643" spc="52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features extracted from both the structure of URLs and the HTML content of webpages. These features include security indicators like HTTPS usage, structural attributes such as subdomain count, and HTML-based elements like the presence of JavaScript,or phishing-related keywords (e.g., "bank", "pay", "crypto").</a:t>
            </a:r>
          </a:p>
          <a:p>
            <a:pPr algn="l">
              <a:lnSpc>
                <a:spcPts val="3700"/>
              </a:lnSpc>
            </a:pPr>
          </a:p>
          <a:p>
            <a:pPr algn="l" marL="0" indent="0" lvl="0">
              <a:lnSpc>
                <a:spcPts val="37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2400"/>
            <a:ext cx="1012176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SELECTION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06121" cy="8675635"/>
          </a:xfrm>
          <a:custGeom>
            <a:avLst/>
            <a:gdLst/>
            <a:ahLst/>
            <a:cxnLst/>
            <a:rect r="r" b="b" t="t" l="l"/>
            <a:pathLst>
              <a:path h="8675635" w="16206121">
                <a:moveTo>
                  <a:pt x="0" y="0"/>
                </a:moveTo>
                <a:lnTo>
                  <a:pt x="16206121" y="0"/>
                </a:lnTo>
                <a:lnTo>
                  <a:pt x="16206121" y="8675635"/>
                </a:lnTo>
                <a:lnTo>
                  <a:pt x="0" y="8675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7" t="-2247" r="-3470" b="-1015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04142" y="300489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Business Understanding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53548" y="2994221"/>
            <a:ext cx="696206" cy="581051"/>
            <a:chOff x="0" y="0"/>
            <a:chExt cx="76084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53548" y="293443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 u="none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4142" y="4222643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Data Understanding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3548" y="4211972"/>
            <a:ext cx="696206" cy="581051"/>
            <a:chOff x="0" y="0"/>
            <a:chExt cx="7608474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53548" y="4152188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4142" y="550098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Data Preparation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53548" y="5490311"/>
            <a:ext cx="696206" cy="581051"/>
            <a:chOff x="0" y="0"/>
            <a:chExt cx="7608474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53548" y="543052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04142" y="6722399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53548" y="6711728"/>
            <a:ext cx="696206" cy="581051"/>
            <a:chOff x="0" y="0"/>
            <a:chExt cx="7608474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53548" y="6651945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603774" y="1407092"/>
            <a:ext cx="7939067" cy="7996846"/>
          </a:xfrm>
          <a:custGeom>
            <a:avLst/>
            <a:gdLst/>
            <a:ahLst/>
            <a:cxnLst/>
            <a:rect r="r" b="b" t="t" l="l"/>
            <a:pathLst>
              <a:path h="7996846" w="7939067">
                <a:moveTo>
                  <a:pt x="0" y="0"/>
                </a:moveTo>
                <a:lnTo>
                  <a:pt x="7939067" y="0"/>
                </a:lnTo>
                <a:lnTo>
                  <a:pt x="7939067" y="7996846"/>
                </a:lnTo>
                <a:lnTo>
                  <a:pt x="0" y="799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5" r="-885" b="-7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3273" y="1028700"/>
            <a:ext cx="408090" cy="578227"/>
          </a:xfrm>
          <a:custGeom>
            <a:avLst/>
            <a:gdLst/>
            <a:ahLst/>
            <a:cxnLst/>
            <a:rect r="r" b="b" t="t" l="l"/>
            <a:pathLst>
              <a:path h="578227" w="408090">
                <a:moveTo>
                  <a:pt x="0" y="0"/>
                </a:moveTo>
                <a:lnTo>
                  <a:pt x="408090" y="0"/>
                </a:lnTo>
                <a:lnTo>
                  <a:pt x="408090" y="578227"/>
                </a:lnTo>
                <a:lnTo>
                  <a:pt x="0" y="57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7323" y="5358789"/>
            <a:ext cx="408090" cy="578227"/>
          </a:xfrm>
          <a:custGeom>
            <a:avLst/>
            <a:gdLst/>
            <a:ahLst/>
            <a:cxnLst/>
            <a:rect r="r" b="b" t="t" l="l"/>
            <a:pathLst>
              <a:path h="578227" w="408090">
                <a:moveTo>
                  <a:pt x="0" y="0"/>
                </a:moveTo>
                <a:lnTo>
                  <a:pt x="408090" y="0"/>
                </a:lnTo>
                <a:lnTo>
                  <a:pt x="408090" y="578227"/>
                </a:lnTo>
                <a:lnTo>
                  <a:pt x="0" y="57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0599" y="1028700"/>
            <a:ext cx="408090" cy="578227"/>
          </a:xfrm>
          <a:custGeom>
            <a:avLst/>
            <a:gdLst/>
            <a:ahLst/>
            <a:cxnLst/>
            <a:rect r="r" b="b" t="t" l="l"/>
            <a:pathLst>
              <a:path h="578227" w="408090">
                <a:moveTo>
                  <a:pt x="0" y="0"/>
                </a:moveTo>
                <a:lnTo>
                  <a:pt x="408090" y="0"/>
                </a:lnTo>
                <a:lnTo>
                  <a:pt x="408090" y="578227"/>
                </a:lnTo>
                <a:lnTo>
                  <a:pt x="0" y="57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4649" y="5358789"/>
            <a:ext cx="408090" cy="578227"/>
          </a:xfrm>
          <a:custGeom>
            <a:avLst/>
            <a:gdLst/>
            <a:ahLst/>
            <a:cxnLst/>
            <a:rect r="r" b="b" t="t" l="l"/>
            <a:pathLst>
              <a:path h="578227" w="408090">
                <a:moveTo>
                  <a:pt x="0" y="0"/>
                </a:moveTo>
                <a:lnTo>
                  <a:pt x="408090" y="0"/>
                </a:lnTo>
                <a:lnTo>
                  <a:pt x="408090" y="578227"/>
                </a:lnTo>
                <a:lnTo>
                  <a:pt x="0" y="57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35404" y="1441562"/>
            <a:ext cx="1255614" cy="1250906"/>
          </a:xfrm>
          <a:custGeom>
            <a:avLst/>
            <a:gdLst/>
            <a:ahLst/>
            <a:cxnLst/>
            <a:rect r="r" b="b" t="t" l="l"/>
            <a:pathLst>
              <a:path h="1250906" w="1255614">
                <a:moveTo>
                  <a:pt x="0" y="0"/>
                </a:moveTo>
                <a:lnTo>
                  <a:pt x="1255614" y="0"/>
                </a:lnTo>
                <a:lnTo>
                  <a:pt x="1255614" y="1250906"/>
                </a:lnTo>
                <a:lnTo>
                  <a:pt x="0" y="125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3231" y="1498382"/>
            <a:ext cx="1317368" cy="1100003"/>
          </a:xfrm>
          <a:custGeom>
            <a:avLst/>
            <a:gdLst/>
            <a:ahLst/>
            <a:cxnLst/>
            <a:rect r="r" b="b" t="t" l="l"/>
            <a:pathLst>
              <a:path h="1100003" w="1317368">
                <a:moveTo>
                  <a:pt x="0" y="0"/>
                </a:moveTo>
                <a:lnTo>
                  <a:pt x="1317368" y="0"/>
                </a:lnTo>
                <a:lnTo>
                  <a:pt x="1317368" y="1100003"/>
                </a:lnTo>
                <a:lnTo>
                  <a:pt x="0" y="1100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3231" y="5704723"/>
            <a:ext cx="1151960" cy="1159205"/>
          </a:xfrm>
          <a:custGeom>
            <a:avLst/>
            <a:gdLst/>
            <a:ahLst/>
            <a:cxnLst/>
            <a:rect r="r" b="b" t="t" l="l"/>
            <a:pathLst>
              <a:path h="1159205" w="1151960">
                <a:moveTo>
                  <a:pt x="0" y="0"/>
                </a:moveTo>
                <a:lnTo>
                  <a:pt x="1151960" y="0"/>
                </a:lnTo>
                <a:lnTo>
                  <a:pt x="1151960" y="1159205"/>
                </a:lnTo>
                <a:lnTo>
                  <a:pt x="0" y="1159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49623" y="5647902"/>
            <a:ext cx="1159205" cy="1159205"/>
          </a:xfrm>
          <a:custGeom>
            <a:avLst/>
            <a:gdLst/>
            <a:ahLst/>
            <a:cxnLst/>
            <a:rect r="r" b="b" t="t" l="l"/>
            <a:pathLst>
              <a:path h="1159205" w="1159205">
                <a:moveTo>
                  <a:pt x="0" y="0"/>
                </a:moveTo>
                <a:lnTo>
                  <a:pt x="1159205" y="0"/>
                </a:lnTo>
                <a:lnTo>
                  <a:pt x="1159205" y="1159206"/>
                </a:lnTo>
                <a:lnTo>
                  <a:pt x="0" y="1159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21373" y="1317813"/>
            <a:ext cx="6104449" cy="1216025"/>
            <a:chOff x="0" y="0"/>
            <a:chExt cx="8139266" cy="162136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1914088" cy="156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160">
                  <a:solidFill>
                    <a:srgbClr val="F6E7D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156046" y="464608"/>
              <a:ext cx="59832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59">
                  <a:solidFill>
                    <a:srgbClr val="F6E7D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ANOMALY DETECTION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193273" y="2551090"/>
            <a:ext cx="664469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Anomaly detection 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was performed using </a:t>
            </a: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Isolation Forest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to identify and remove outliers.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385423" y="5647902"/>
            <a:ext cx="6104449" cy="1216025"/>
            <a:chOff x="0" y="0"/>
            <a:chExt cx="8139266" cy="16213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1914088" cy="156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160">
                  <a:solidFill>
                    <a:srgbClr val="F6E7D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56046" y="464608"/>
              <a:ext cx="59832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59">
                  <a:solidFill>
                    <a:srgbClr val="F6E7D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BALANCING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385423" y="7017293"/>
            <a:ext cx="610444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balancing 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was achieved using </a:t>
            </a: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SMOTE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and random </a:t>
            </a: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undersampling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techniques.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228699" y="1317813"/>
            <a:ext cx="6104449" cy="1216025"/>
            <a:chOff x="0" y="0"/>
            <a:chExt cx="8139266" cy="16213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7150"/>
              <a:ext cx="1914088" cy="156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160">
                  <a:solidFill>
                    <a:srgbClr val="F6E7D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156046" y="464608"/>
              <a:ext cx="59832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59">
                  <a:solidFill>
                    <a:srgbClr val="F6E7D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CLEANING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28699" y="2687204"/>
            <a:ext cx="6104449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 spc="48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cleaning</a:t>
            </a:r>
            <a:r>
              <a:rPr lang="en-US" sz="2400" spc="48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removes inaccurate and incomplete entries to enhance dataset quality and reliability.</a:t>
            </a: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2292749" y="5647902"/>
            <a:ext cx="6104449" cy="1216025"/>
            <a:chOff x="0" y="0"/>
            <a:chExt cx="8139266" cy="162136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57150"/>
              <a:ext cx="1914088" cy="156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160">
                  <a:solidFill>
                    <a:srgbClr val="F6E7D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156046" y="448734"/>
              <a:ext cx="598322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60">
                  <a:solidFill>
                    <a:srgbClr val="F6E7D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SCALING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92749" y="7017293"/>
            <a:ext cx="6104449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scaling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standardizes feature values to ensure consistency across variables, enabling more accurate model learning.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8978" y="638124"/>
            <a:ext cx="11184864" cy="8777747"/>
          </a:xfrm>
          <a:custGeom>
            <a:avLst/>
            <a:gdLst/>
            <a:ahLst/>
            <a:cxnLst/>
            <a:rect r="r" b="b" t="t" l="l"/>
            <a:pathLst>
              <a:path h="8777747" w="11184864">
                <a:moveTo>
                  <a:pt x="0" y="0"/>
                </a:moveTo>
                <a:lnTo>
                  <a:pt x="11184864" y="0"/>
                </a:lnTo>
                <a:lnTo>
                  <a:pt x="11184864" y="8777746"/>
                </a:lnTo>
                <a:lnTo>
                  <a:pt x="0" y="87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9" r="-108" b="-8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73" y="2077772"/>
            <a:ext cx="18131653" cy="6821364"/>
          </a:xfrm>
          <a:custGeom>
            <a:avLst/>
            <a:gdLst/>
            <a:ahLst/>
            <a:cxnLst/>
            <a:rect r="r" b="b" t="t" l="l"/>
            <a:pathLst>
              <a:path h="6821364" w="18131653">
                <a:moveTo>
                  <a:pt x="0" y="0"/>
                </a:moveTo>
                <a:lnTo>
                  <a:pt x="18131654" y="0"/>
                </a:lnTo>
                <a:lnTo>
                  <a:pt x="18131654" y="6821364"/>
                </a:lnTo>
                <a:lnTo>
                  <a:pt x="0" y="682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2" t="0" r="-1623" b="-7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98921"/>
            <a:ext cx="408090" cy="578227"/>
          </a:xfrm>
          <a:custGeom>
            <a:avLst/>
            <a:gdLst/>
            <a:ahLst/>
            <a:cxnLst/>
            <a:rect r="r" b="b" t="t" l="l"/>
            <a:pathLst>
              <a:path h="578227" w="408090">
                <a:moveTo>
                  <a:pt x="0" y="0"/>
                </a:moveTo>
                <a:lnTo>
                  <a:pt x="408090" y="0"/>
                </a:lnTo>
                <a:lnTo>
                  <a:pt x="408090" y="578227"/>
                </a:lnTo>
                <a:lnTo>
                  <a:pt x="0" y="57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37572" y="3099600"/>
            <a:ext cx="13738437" cy="6658209"/>
          </a:xfrm>
          <a:custGeom>
            <a:avLst/>
            <a:gdLst/>
            <a:ahLst/>
            <a:cxnLst/>
            <a:rect r="r" b="b" t="t" l="l"/>
            <a:pathLst>
              <a:path h="6658209" w="13738437">
                <a:moveTo>
                  <a:pt x="0" y="0"/>
                </a:moveTo>
                <a:lnTo>
                  <a:pt x="13738436" y="0"/>
                </a:lnTo>
                <a:lnTo>
                  <a:pt x="13738436" y="6658210"/>
                </a:lnTo>
                <a:lnTo>
                  <a:pt x="0" y="6658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97" r="0" b="-119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5945" y="988310"/>
            <a:ext cx="1232745" cy="1015474"/>
          </a:xfrm>
          <a:custGeom>
            <a:avLst/>
            <a:gdLst/>
            <a:ahLst/>
            <a:cxnLst/>
            <a:rect r="r" b="b" t="t" l="l"/>
            <a:pathLst>
              <a:path h="1015474" w="1232745">
                <a:moveTo>
                  <a:pt x="0" y="0"/>
                </a:moveTo>
                <a:lnTo>
                  <a:pt x="1232745" y="0"/>
                </a:lnTo>
                <a:lnTo>
                  <a:pt x="1232745" y="1015474"/>
                </a:lnTo>
                <a:lnTo>
                  <a:pt x="0" y="10154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6800" y="888035"/>
            <a:ext cx="6104449" cy="1216025"/>
            <a:chOff x="0" y="0"/>
            <a:chExt cx="8139266" cy="16213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7150"/>
              <a:ext cx="1914088" cy="156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160">
                  <a:solidFill>
                    <a:srgbClr val="F6E7D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156046" y="464608"/>
              <a:ext cx="5983220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59">
                  <a:solidFill>
                    <a:srgbClr val="F6E7D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 SELECTION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42855" y="2013309"/>
            <a:ext cx="11353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selection 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was performed using </a:t>
            </a: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RFE-CV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and the</a:t>
            </a:r>
            <a:r>
              <a:rPr lang="en-US" b="true" sz="2399" spc="4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f_classif</a:t>
            </a:r>
            <a:r>
              <a:rPr lang="en-US" sz="2399" spc="47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method to retain the most informative features.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1672" y="300489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Business Understanding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21078" y="2994221"/>
            <a:ext cx="696206" cy="581051"/>
            <a:chOff x="0" y="0"/>
            <a:chExt cx="76084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1078" y="293443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 u="none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71672" y="4222643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Data Understanding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1078" y="4211972"/>
            <a:ext cx="696206" cy="581051"/>
            <a:chOff x="0" y="0"/>
            <a:chExt cx="7608474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21078" y="4152188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1672" y="5500982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Data Preparation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21078" y="5490311"/>
            <a:ext cx="696206" cy="581051"/>
            <a:chOff x="0" y="0"/>
            <a:chExt cx="7608474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21078" y="5430527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1672" y="6722399"/>
            <a:ext cx="7767508" cy="51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9" spc="61">
                <a:solidFill>
                  <a:srgbClr val="55A548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21078" y="6711728"/>
            <a:ext cx="696206" cy="581051"/>
            <a:chOff x="0" y="0"/>
            <a:chExt cx="7608474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084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7608474">
                  <a:moveTo>
                    <a:pt x="3804237" y="0"/>
                  </a:moveTo>
                  <a:cubicBezTo>
                    <a:pt x="1703215" y="0"/>
                    <a:pt x="0" y="1421496"/>
                    <a:pt x="0" y="3175000"/>
                  </a:cubicBezTo>
                  <a:cubicBezTo>
                    <a:pt x="0" y="4928504"/>
                    <a:pt x="1703215" y="6350000"/>
                    <a:pt x="3804237" y="6350000"/>
                  </a:cubicBezTo>
                  <a:cubicBezTo>
                    <a:pt x="5905259" y="6350000"/>
                    <a:pt x="7608474" y="4928504"/>
                    <a:pt x="7608474" y="3175000"/>
                  </a:cubicBezTo>
                  <a:cubicBezTo>
                    <a:pt x="7608474" y="1421496"/>
                    <a:pt x="5905259" y="0"/>
                    <a:pt x="3804237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21078" y="6651945"/>
            <a:ext cx="696206" cy="64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39"/>
              </a:lnSpc>
              <a:spcBef>
                <a:spcPct val="0"/>
              </a:spcBef>
            </a:pPr>
            <a:r>
              <a:rPr lang="en-US" b="true" sz="3400" spc="170">
                <a:solidFill>
                  <a:srgbClr val="55A5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1261454"/>
            <a:ext cx="7939067" cy="7996846"/>
          </a:xfrm>
          <a:custGeom>
            <a:avLst/>
            <a:gdLst/>
            <a:ahLst/>
            <a:cxnLst/>
            <a:rect r="r" b="b" t="t" l="l"/>
            <a:pathLst>
              <a:path h="7996846" w="7939067">
                <a:moveTo>
                  <a:pt x="0" y="0"/>
                </a:moveTo>
                <a:lnTo>
                  <a:pt x="7939067" y="0"/>
                </a:lnTo>
                <a:lnTo>
                  <a:pt x="7939067" y="7996846"/>
                </a:lnTo>
                <a:lnTo>
                  <a:pt x="0" y="799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5" r="-885" b="-7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47066" y="3021771"/>
            <a:ext cx="1422108" cy="1393665"/>
          </a:xfrm>
          <a:custGeom>
            <a:avLst/>
            <a:gdLst/>
            <a:ahLst/>
            <a:cxnLst/>
            <a:rect r="r" b="b" t="t" l="l"/>
            <a:pathLst>
              <a:path h="1393665" w="1422108">
                <a:moveTo>
                  <a:pt x="0" y="0"/>
                </a:moveTo>
                <a:lnTo>
                  <a:pt x="1422107" y="0"/>
                </a:lnTo>
                <a:lnTo>
                  <a:pt x="1422107" y="1393665"/>
                </a:lnTo>
                <a:lnTo>
                  <a:pt x="0" y="13936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06596" y="3148003"/>
            <a:ext cx="1662954" cy="1141202"/>
          </a:xfrm>
          <a:custGeom>
            <a:avLst/>
            <a:gdLst/>
            <a:ahLst/>
            <a:cxnLst/>
            <a:rect r="r" b="b" t="t" l="l"/>
            <a:pathLst>
              <a:path h="1141202" w="1662954">
                <a:moveTo>
                  <a:pt x="0" y="0"/>
                </a:moveTo>
                <a:lnTo>
                  <a:pt x="1662954" y="0"/>
                </a:lnTo>
                <a:lnTo>
                  <a:pt x="1662954" y="1141202"/>
                </a:lnTo>
                <a:lnTo>
                  <a:pt x="0" y="114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14835" y="1354410"/>
            <a:ext cx="12121140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TESTED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58261" y="4663086"/>
            <a:ext cx="4559625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5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LIGHTGBM (BOOSTING)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75316" y="5515428"/>
            <a:ext cx="5325514" cy="35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b="true" sz="2545" spc="5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LightGBM </a:t>
            </a: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is a fast and scalable gradient boosting framework.</a:t>
            </a:r>
          </a:p>
          <a:p>
            <a:pPr algn="ctr">
              <a:lnSpc>
                <a:spcPts val="2800"/>
              </a:lnSpc>
            </a:pPr>
          </a:p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It efficiently handles large datasets.</a:t>
            </a:r>
          </a:p>
          <a:p>
            <a:pPr algn="ctr">
              <a:lnSpc>
                <a:spcPts val="2800"/>
              </a:lnSpc>
            </a:pPr>
          </a:p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Uses techniques like leaf-wise tree growth.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144274" y="4672611"/>
            <a:ext cx="456627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CNN (DEEP LEARNING)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8721" y="5467257"/>
            <a:ext cx="6543892" cy="353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b="true" sz="2550" spc="51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CNN (Convolutional Neural Network</a:t>
            </a: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) is a deep learning model.</a:t>
            </a:r>
          </a:p>
          <a:p>
            <a:pPr algn="ctr">
              <a:lnSpc>
                <a:spcPts val="2805"/>
              </a:lnSpc>
            </a:pPr>
          </a:p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CNNs automatically extract hierarchical features from structured or sequential input data.</a:t>
            </a:r>
          </a:p>
          <a:p>
            <a:pPr algn="ctr">
              <a:lnSpc>
                <a:spcPts val="2805"/>
              </a:lnSpc>
            </a:pPr>
          </a:p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CNNs are well-suited for learning from URL-based phishing datasets.</a:t>
            </a:r>
          </a:p>
          <a:p>
            <a:pPr algn="ctr">
              <a:lnSpc>
                <a:spcPts val="280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1153" y="2798961"/>
            <a:ext cx="1268607" cy="1268607"/>
          </a:xfrm>
          <a:custGeom>
            <a:avLst/>
            <a:gdLst/>
            <a:ahLst/>
            <a:cxnLst/>
            <a:rect r="r" b="b" t="t" l="l"/>
            <a:pathLst>
              <a:path h="1268607" w="1268607">
                <a:moveTo>
                  <a:pt x="0" y="0"/>
                </a:moveTo>
                <a:lnTo>
                  <a:pt x="1268608" y="0"/>
                </a:lnTo>
                <a:lnTo>
                  <a:pt x="1268608" y="1268607"/>
                </a:lnTo>
                <a:lnTo>
                  <a:pt x="0" y="1268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54461" y="3159122"/>
            <a:ext cx="1282886" cy="1140165"/>
          </a:xfrm>
          <a:custGeom>
            <a:avLst/>
            <a:gdLst/>
            <a:ahLst/>
            <a:cxnLst/>
            <a:rect r="r" b="b" t="t" l="l"/>
            <a:pathLst>
              <a:path h="1140165" w="1282886">
                <a:moveTo>
                  <a:pt x="0" y="0"/>
                </a:moveTo>
                <a:lnTo>
                  <a:pt x="1282886" y="0"/>
                </a:lnTo>
                <a:lnTo>
                  <a:pt x="1282886" y="1140165"/>
                </a:lnTo>
                <a:lnTo>
                  <a:pt x="0" y="1140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14835" y="1354410"/>
            <a:ext cx="12121140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TESTED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6648" y="4654955"/>
            <a:ext cx="5538512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pc="57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 (BAGGING)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26648" y="5629669"/>
            <a:ext cx="5606641" cy="38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b="true" sz="2545" spc="5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 </a:t>
            </a: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is an ensemble learning algorithm.</a:t>
            </a:r>
          </a:p>
          <a:p>
            <a:pPr algn="ctr">
              <a:lnSpc>
                <a:spcPts val="2800"/>
              </a:lnSpc>
            </a:pPr>
          </a:p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Builds multiple trees on random data subsets and combines their outputs.</a:t>
            </a:r>
          </a:p>
          <a:p>
            <a:pPr algn="ctr">
              <a:lnSpc>
                <a:spcPts val="2800"/>
              </a:lnSpc>
            </a:pPr>
          </a:p>
          <a:p>
            <a:pPr algn="ctr" marL="549643" indent="-274822" lvl="1">
              <a:lnSpc>
                <a:spcPts val="2800"/>
              </a:lnSpc>
              <a:buFont typeface="Arial"/>
              <a:buChar char="•"/>
            </a:pPr>
            <a:r>
              <a:rPr lang="en-US" sz="2545" spc="5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This approach improves accuracy in classification tasks.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49356" y="4305693"/>
            <a:ext cx="5892203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COMBINATION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59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LIGHTGBM , CNN (STACKING)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71981" y="5629669"/>
            <a:ext cx="5769578" cy="389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Combining CNN and LightGBM creates a hybrid model.</a:t>
            </a:r>
          </a:p>
          <a:p>
            <a:pPr algn="ctr">
              <a:lnSpc>
                <a:spcPts val="2805"/>
              </a:lnSpc>
            </a:pPr>
          </a:p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CNN automatically extracts deep, high-level features from data.</a:t>
            </a:r>
          </a:p>
          <a:p>
            <a:pPr algn="ctr">
              <a:lnSpc>
                <a:spcPts val="2805"/>
              </a:lnSpc>
            </a:pPr>
          </a:p>
          <a:p>
            <a:pPr algn="ctr" marL="550545" indent="-275272" lvl="1">
              <a:lnSpc>
                <a:spcPts val="2805"/>
              </a:lnSpc>
              <a:buFont typeface="Arial"/>
              <a:buChar char="•"/>
            </a:pPr>
            <a:r>
              <a:rPr lang="en-US" sz="2550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LightGBM efficiently handles classification tasks.</a:t>
            </a:r>
          </a:p>
          <a:p>
            <a:pPr algn="ctr">
              <a:lnSpc>
                <a:spcPts val="2805"/>
              </a:lnSpc>
            </a:pPr>
          </a:p>
          <a:p>
            <a:pPr algn="ctr">
              <a:lnSpc>
                <a:spcPts val="280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8646" y="5536875"/>
            <a:ext cx="13130708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AND 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5845" y="82102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One careless click, and your info’s picked!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923736" y="1028700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8" y="0"/>
                </a:lnTo>
                <a:lnTo>
                  <a:pt x="4440528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5438" y="4609775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2934" y="2418816"/>
            <a:ext cx="11835709" cy="7864222"/>
          </a:xfrm>
          <a:custGeom>
            <a:avLst/>
            <a:gdLst/>
            <a:ahLst/>
            <a:cxnLst/>
            <a:rect r="r" b="b" t="t" l="l"/>
            <a:pathLst>
              <a:path h="7864222" w="11835709">
                <a:moveTo>
                  <a:pt x="0" y="0"/>
                </a:moveTo>
                <a:lnTo>
                  <a:pt x="11835709" y="0"/>
                </a:lnTo>
                <a:lnTo>
                  <a:pt x="11835709" y="7864223"/>
                </a:lnTo>
                <a:lnTo>
                  <a:pt x="0" y="7864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57" r="0" b="-295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6166"/>
            <a:ext cx="16844177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spc="14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 BENCHMARKING AGAINST PREVIOUS STUDIES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204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26+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46676" y="1963394"/>
            <a:ext cx="12764805" cy="5934405"/>
            <a:chOff x="0" y="0"/>
            <a:chExt cx="3361924" cy="1562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1924" cy="1562971"/>
            </a:xfrm>
            <a:custGeom>
              <a:avLst/>
              <a:gdLst/>
              <a:ahLst/>
              <a:cxnLst/>
              <a:rect r="r" b="b" t="t" l="l"/>
              <a:pathLst>
                <a:path h="1562971" w="3361924">
                  <a:moveTo>
                    <a:pt x="3361924" y="781485"/>
                  </a:moveTo>
                  <a:lnTo>
                    <a:pt x="2955524" y="0"/>
                  </a:lnTo>
                  <a:lnTo>
                    <a:pt x="2955524" y="203200"/>
                  </a:lnTo>
                  <a:lnTo>
                    <a:pt x="0" y="203200"/>
                  </a:lnTo>
                  <a:lnTo>
                    <a:pt x="0" y="1359771"/>
                  </a:lnTo>
                  <a:lnTo>
                    <a:pt x="2955524" y="1359771"/>
                  </a:lnTo>
                  <a:lnTo>
                    <a:pt x="2955524" y="1562971"/>
                  </a:lnTo>
                  <a:lnTo>
                    <a:pt x="3361924" y="781485"/>
                  </a:lnTo>
                  <a:close/>
                </a:path>
              </a:pathLst>
            </a:custGeom>
            <a:solidFill>
              <a:srgbClr val="B9A9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55575"/>
              <a:ext cx="3260324" cy="120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59000" y="3454198"/>
            <a:ext cx="1245248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14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EXPLORING NEW FRONTIERS: PHISHFOE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7400" y="1550558"/>
            <a:ext cx="10993199" cy="8207252"/>
          </a:xfrm>
          <a:custGeom>
            <a:avLst/>
            <a:gdLst/>
            <a:ahLst/>
            <a:cxnLst/>
            <a:rect r="r" b="b" t="t" l="l"/>
            <a:pathLst>
              <a:path h="8207252" w="10993199">
                <a:moveTo>
                  <a:pt x="0" y="0"/>
                </a:moveTo>
                <a:lnTo>
                  <a:pt x="10993200" y="0"/>
                </a:lnTo>
                <a:lnTo>
                  <a:pt x="10993200" y="8207252"/>
                </a:lnTo>
                <a:lnTo>
                  <a:pt x="0" y="8207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65518" y="713105"/>
            <a:ext cx="19819035" cy="66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70"/>
              </a:lnSpc>
            </a:pPr>
            <a:r>
              <a:rPr lang="en-US" sz="4700" spc="94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BALANCING TECHNIQUES COMPARISON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7326" y="1670427"/>
            <a:ext cx="14873347" cy="8087382"/>
          </a:xfrm>
          <a:custGeom>
            <a:avLst/>
            <a:gdLst/>
            <a:ahLst/>
            <a:cxnLst/>
            <a:rect r="r" b="b" t="t" l="l"/>
            <a:pathLst>
              <a:path h="8087382" w="14873347">
                <a:moveTo>
                  <a:pt x="0" y="0"/>
                </a:moveTo>
                <a:lnTo>
                  <a:pt x="14873348" y="0"/>
                </a:lnTo>
                <a:lnTo>
                  <a:pt x="14873348" y="8087383"/>
                </a:lnTo>
                <a:lnTo>
                  <a:pt x="0" y="8087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559735" y="448844"/>
            <a:ext cx="1981903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</a:pPr>
            <a:r>
              <a:rPr lang="en-US" sz="5400" spc="108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SELECTION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8809" y="1455295"/>
            <a:ext cx="14376649" cy="8302515"/>
          </a:xfrm>
          <a:custGeom>
            <a:avLst/>
            <a:gdLst/>
            <a:ahLst/>
            <a:cxnLst/>
            <a:rect r="r" b="b" t="t" l="l"/>
            <a:pathLst>
              <a:path h="8302515" w="14376649">
                <a:moveTo>
                  <a:pt x="0" y="0"/>
                </a:moveTo>
                <a:lnTo>
                  <a:pt x="14376649" y="0"/>
                </a:lnTo>
                <a:lnTo>
                  <a:pt x="14376649" y="8302515"/>
                </a:lnTo>
                <a:lnTo>
                  <a:pt x="0" y="8302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559735" y="448844"/>
            <a:ext cx="1981903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</a:pPr>
            <a:r>
              <a:rPr lang="en-US" sz="5400" spc="108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SELECTION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48997" y="2544076"/>
          <a:ext cx="12679968" cy="6990758"/>
        </p:xfrm>
        <a:graphic>
          <a:graphicData uri="http://schemas.openxmlformats.org/drawingml/2006/table">
            <a:tbl>
              <a:tblPr/>
              <a:tblGrid>
                <a:gridCol w="4226656"/>
                <a:gridCol w="4226656"/>
                <a:gridCol w="4226656"/>
              </a:tblGrid>
              <a:tr h="1398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RFE-CV 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f-classif 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97.54%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96.29%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99.05%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97.39%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LightGBM +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97.69%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-2559735" y="448844"/>
            <a:ext cx="1981903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</a:pPr>
            <a:r>
              <a:rPr lang="en-US" sz="5400" spc="108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SELECTION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8997" y="1688156"/>
            <a:ext cx="16379912" cy="60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b="true" sz="3206" spc="1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RFE-C</a:t>
            </a:r>
            <a:r>
              <a:rPr lang="en-US" b="true" sz="3206" spc="1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 VS F-CLASSIF COMPARISON (F1-SCORE):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8617" y="3872363"/>
            <a:ext cx="12207055" cy="6057751"/>
          </a:xfrm>
          <a:custGeom>
            <a:avLst/>
            <a:gdLst/>
            <a:ahLst/>
            <a:cxnLst/>
            <a:rect r="r" b="b" t="t" l="l"/>
            <a:pathLst>
              <a:path h="6057751" w="12207055">
                <a:moveTo>
                  <a:pt x="0" y="0"/>
                </a:moveTo>
                <a:lnTo>
                  <a:pt x="12207055" y="0"/>
                </a:lnTo>
                <a:lnTo>
                  <a:pt x="12207055" y="6057751"/>
                </a:lnTo>
                <a:lnTo>
                  <a:pt x="0" y="605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5309" y="360094"/>
            <a:ext cx="1045621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14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BEST RESULT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309" y="1160194"/>
            <a:ext cx="16393991" cy="319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</a:p>
          <a:p>
            <a:pPr algn="l" marL="555607" indent="-277803" lvl="1">
              <a:lnSpc>
                <a:spcPts val="3602"/>
              </a:lnSpc>
              <a:buFont typeface="Arial"/>
              <a:buChar char="•"/>
            </a:pP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The best results were achieved using the </a:t>
            </a:r>
            <a:r>
              <a:rPr lang="en-US" b="true" sz="2573" spc="51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LightGBM </a:t>
            </a: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model.</a:t>
            </a:r>
          </a:p>
          <a:p>
            <a:pPr algn="l" marL="555607" indent="-277803" lvl="1">
              <a:lnSpc>
                <a:spcPts val="3602"/>
              </a:lnSpc>
              <a:buFont typeface="Arial"/>
              <a:buChar char="•"/>
            </a:pPr>
            <a:r>
              <a:rPr lang="en-US" b="true" sz="2573" spc="51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Synthetic Minority Over-sampling Technique(SMOTE)</a:t>
            </a: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weas used for balancing.</a:t>
            </a:r>
          </a:p>
          <a:p>
            <a:pPr algn="l" marL="555607" indent="-277803" lvl="1">
              <a:lnSpc>
                <a:spcPts val="3602"/>
              </a:lnSpc>
              <a:buFont typeface="Arial"/>
              <a:buChar char="•"/>
            </a:pPr>
            <a:r>
              <a:rPr lang="en-US" b="true" sz="2573" spc="51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Recursive Feature Elimination with Cross-Validation (RFE-CV)</a:t>
            </a: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was used for feature selection.</a:t>
            </a:r>
          </a:p>
          <a:p>
            <a:pPr algn="l" marL="555607" indent="-277803" lvl="1">
              <a:lnSpc>
                <a:spcPts val="3602"/>
              </a:lnSpc>
              <a:buFont typeface="Arial"/>
              <a:buChar char="•"/>
            </a:pP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This setup was applied to the </a:t>
            </a:r>
            <a:r>
              <a:rPr lang="en-US" b="true" sz="2573" spc="51">
                <a:solidFill>
                  <a:srgbClr val="E05A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PhishFOE dataset</a:t>
            </a:r>
            <a:r>
              <a:rPr lang="en-US" sz="2573" spc="5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602"/>
              </a:lnSpc>
            </a:pPr>
          </a:p>
          <a:p>
            <a:pPr algn="l">
              <a:lnSpc>
                <a:spcPts val="360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sz="5306" spc="265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08492" y="2281641"/>
          <a:ext cx="13813999" cy="7474550"/>
        </p:xfrm>
        <a:graphic>
          <a:graphicData uri="http://schemas.openxmlformats.org/drawingml/2006/table">
            <a:tbl>
              <a:tblPr/>
              <a:tblGrid>
                <a:gridCol w="2762800"/>
                <a:gridCol w="2762800"/>
                <a:gridCol w="2762800"/>
                <a:gridCol w="2762800"/>
                <a:gridCol w="2762800"/>
              </a:tblGrid>
              <a:tr h="116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Precision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XGBoost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98.54%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98.53%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98.84%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98.22%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33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XGBoost + LSTM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98.91%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98.91%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99.00%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98.82%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LSTM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97.69%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97.64%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97.66%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97.75%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33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Roberta Transformer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94.05%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93.81%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96.44%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91.31%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MLP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95.36%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95.36%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94.82%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94.25%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-2559735" y="448844"/>
            <a:ext cx="1981903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</a:pPr>
            <a:r>
              <a:rPr lang="en-US" sz="5400" spc="108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MODELS EVALUATED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8997" y="1525135"/>
            <a:ext cx="16379912" cy="60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b="true" sz="3206" spc="1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OTHER</a:t>
            </a:r>
            <a:r>
              <a:rPr lang="en-US" b="true" sz="3206" spc="1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MODELS TESTED: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8646" y="5200650"/>
            <a:ext cx="13130708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When in doubt, throw the link out!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18556" y="803600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7" y="0"/>
                </a:lnTo>
                <a:lnTo>
                  <a:pt x="4440527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0257" y="4294634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0325" y="2100788"/>
            <a:ext cx="15835624" cy="805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0"/>
              </a:lnSpc>
            </a:pPr>
          </a:p>
          <a:p>
            <a:pPr algn="just" marL="830409" indent="-415204" lvl="1">
              <a:lnSpc>
                <a:spcPts val="4230"/>
              </a:lnSpc>
              <a:buFont typeface="Arial"/>
              <a:buChar char="•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🔧 Backend: P</a:t>
            </a: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ython-powered API with a trained ML model</a:t>
            </a:r>
          </a:p>
          <a:p>
            <a:pPr algn="just">
              <a:lnSpc>
                <a:spcPts val="4230"/>
              </a:lnSpc>
            </a:pPr>
          </a:p>
          <a:p>
            <a:pPr algn="just" marL="830409" indent="-415204" lvl="1">
              <a:lnSpc>
                <a:spcPts val="4230"/>
              </a:lnSpc>
              <a:buFont typeface="Arial"/>
              <a:buChar char="•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🌐 Frontend: Web dashboard for real-time interaction</a:t>
            </a:r>
          </a:p>
          <a:p>
            <a:pPr algn="just">
              <a:lnSpc>
                <a:spcPts val="4230"/>
              </a:lnSpc>
            </a:pPr>
          </a:p>
          <a:p>
            <a:pPr algn="just" marL="830409" indent="-415204" lvl="1">
              <a:lnSpc>
                <a:spcPts val="4230"/>
              </a:lnSpc>
              <a:buFont typeface="Arial"/>
              <a:buChar char="•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🔄 Data Flow:</a:t>
            </a:r>
          </a:p>
          <a:p>
            <a:pPr algn="just">
              <a:lnSpc>
                <a:spcPts val="4230"/>
              </a:lnSpc>
            </a:pP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User submits a URL</a:t>
            </a: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Features are extracted (length, HTTPS, suspicious keywords…)</a:t>
            </a: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Data is preprocessed</a:t>
            </a: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URL analyzed by a classification model</a:t>
            </a: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Legitimacy score calculated</a:t>
            </a:r>
          </a:p>
          <a:p>
            <a:pPr algn="just" marL="3321635" indent="-664327" lvl="4">
              <a:lnSpc>
                <a:spcPts val="4230"/>
              </a:lnSpc>
              <a:buAutoNum type="arabicPeriod" startAt="1"/>
            </a:pPr>
            <a:r>
              <a:rPr lang="en-US" sz="3846" spc="76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Results displayed visually</a:t>
            </a:r>
          </a:p>
          <a:p>
            <a:pPr algn="just">
              <a:lnSpc>
                <a:spcPts val="423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ANALYSIS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2549" y="3300031"/>
            <a:ext cx="5589376" cy="729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Protocol t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ype, domain length, number of special characters</a:t>
            </a:r>
          </a:p>
          <a:p>
            <a:pPr algn="l">
              <a:lnSpc>
                <a:spcPts val="3839"/>
              </a:lnSpc>
            </a:pP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Risk indicators: recent domain, shortened URLs, suspicious keywords</a:t>
            </a:r>
          </a:p>
          <a:p>
            <a:pPr algn="l">
              <a:lnSpc>
                <a:spcPts val="3839"/>
              </a:lnSpc>
            </a:pP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Domain metadata from WHOIS: creation date, registrar information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261025" y="3372605"/>
            <a:ext cx="5142546" cy="632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Presenc</a:t>
            </a: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 of login forms, iframes, redirects</a:t>
            </a:r>
          </a:p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Visual cues: favicon, meta tags, copyright</a:t>
            </a:r>
          </a:p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Legitimate indicators: social media links, content structure</a:t>
            </a: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314269" y="3372605"/>
            <a:ext cx="4519837" cy="486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rocessed features passed to the model</a:t>
            </a:r>
          </a:p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Output: Binary classification + legitimacy score (0–100%)</a:t>
            </a: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15010" y="2420415"/>
            <a:ext cx="406445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URL FEATURE EXTRACTION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9248" y="2420415"/>
            <a:ext cx="3946102" cy="110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6"/>
              </a:lnSpc>
              <a:spcBef>
                <a:spcPct val="0"/>
              </a:spcBef>
            </a:pPr>
            <a:r>
              <a:rPr lang="en-US" b="true" sz="3190" spc="63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 CONTENT INSPECTION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99621" y="2472734"/>
            <a:ext cx="406445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ML INFERENCE (LIGHTGBM)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0611" y="2941590"/>
            <a:ext cx="16522002" cy="6732716"/>
          </a:xfrm>
          <a:custGeom>
            <a:avLst/>
            <a:gdLst/>
            <a:ahLst/>
            <a:cxnLst/>
            <a:rect r="r" b="b" t="t" l="l"/>
            <a:pathLst>
              <a:path h="6732716" w="16522002">
                <a:moveTo>
                  <a:pt x="0" y="0"/>
                </a:moveTo>
                <a:lnTo>
                  <a:pt x="16522001" y="0"/>
                </a:lnTo>
                <a:lnTo>
                  <a:pt x="16522001" y="6732716"/>
                </a:lnTo>
                <a:lnTo>
                  <a:pt x="0" y="673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8153" y="2106690"/>
            <a:ext cx="15847699" cy="49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Inte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ractiv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 Dashboard: Section-based layout 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56015"/>
            <a:ext cx="8541365" cy="4131885"/>
          </a:xfrm>
          <a:custGeom>
            <a:avLst/>
            <a:gdLst/>
            <a:ahLst/>
            <a:cxnLst/>
            <a:rect r="r" b="b" t="t" l="l"/>
            <a:pathLst>
              <a:path h="4131885" w="8541365">
                <a:moveTo>
                  <a:pt x="0" y="0"/>
                </a:moveTo>
                <a:lnTo>
                  <a:pt x="8541365" y="0"/>
                </a:lnTo>
                <a:lnTo>
                  <a:pt x="8541365" y="4131885"/>
                </a:lnTo>
                <a:lnTo>
                  <a:pt x="0" y="413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9518" y="4080506"/>
            <a:ext cx="9692965" cy="4107394"/>
          </a:xfrm>
          <a:custGeom>
            <a:avLst/>
            <a:gdLst/>
            <a:ahLst/>
            <a:cxnLst/>
            <a:rect r="r" b="b" t="t" l="l"/>
            <a:pathLst>
              <a:path h="4107394" w="9692965">
                <a:moveTo>
                  <a:pt x="0" y="0"/>
                </a:moveTo>
                <a:lnTo>
                  <a:pt x="9692964" y="0"/>
                </a:lnTo>
                <a:lnTo>
                  <a:pt x="9692964" y="4107394"/>
                </a:lnTo>
                <a:lnTo>
                  <a:pt x="0" y="4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8153" y="2106690"/>
            <a:ext cx="15847699" cy="1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Predi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ction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 View:</a:t>
            </a: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Color-coded output: 🟢 Legitimate / 🔴 Malicious</a:t>
            </a: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Confidence score with gauge meter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7661" y="3732224"/>
            <a:ext cx="12668781" cy="6223539"/>
          </a:xfrm>
          <a:custGeom>
            <a:avLst/>
            <a:gdLst/>
            <a:ahLst/>
            <a:cxnLst/>
            <a:rect r="r" b="b" t="t" l="l"/>
            <a:pathLst>
              <a:path h="6223539" w="12668781">
                <a:moveTo>
                  <a:pt x="0" y="0"/>
                </a:moveTo>
                <a:lnTo>
                  <a:pt x="12668780" y="0"/>
                </a:lnTo>
                <a:lnTo>
                  <a:pt x="12668780" y="6223538"/>
                </a:lnTo>
                <a:lnTo>
                  <a:pt x="0" y="62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8153" y="2106690"/>
            <a:ext cx="15847699" cy="1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Detailed Insights:</a:t>
            </a: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List of fe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atur</a:t>
            </a: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es with impact on prediction</a:t>
            </a:r>
          </a:p>
          <a:p>
            <a:pPr algn="l" marL="753531" indent="-376765" lvl="1">
              <a:lnSpc>
                <a:spcPts val="3839"/>
              </a:lnSpc>
              <a:buFont typeface="Arial"/>
              <a:buChar char="•"/>
            </a:pPr>
            <a:r>
              <a:rPr lang="en-US" sz="3490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Explanation for the risk score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153" y="851744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CHARACTERISTICS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82442" y="4524211"/>
            <a:ext cx="5695615" cy="389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Optimized pipeline with retry mechanism</a:t>
            </a: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Eff</a:t>
            </a: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icient preprocessing and prediction flow</a:t>
            </a:r>
          </a:p>
          <a:p>
            <a:pPr algn="l" marL="753490" indent="-376745" lvl="1">
              <a:lnSpc>
                <a:spcPts val="3838"/>
              </a:lnSpc>
              <a:buFont typeface="Arial"/>
              <a:buChar char="•"/>
            </a:pPr>
            <a:r>
              <a:rPr lang="en-US" sz="3489" spc="6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Error handling with fallback values</a:t>
            </a:r>
          </a:p>
          <a:p>
            <a:pPr algn="l">
              <a:lnSpc>
                <a:spcPts val="383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88755" y="4524211"/>
            <a:ext cx="6012801" cy="44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</a:p>
          <a:p>
            <a:pPr algn="l" marL="771877" indent="-385938" lvl="1">
              <a:lnSpc>
                <a:spcPts val="3932"/>
              </a:lnSpc>
              <a:buFont typeface="Arial"/>
              <a:buChar char="•"/>
            </a:pPr>
            <a:r>
              <a:rPr lang="en-US" sz="3575" spc="7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Responsive UI for mobile/desktop</a:t>
            </a:r>
          </a:p>
          <a:p>
            <a:pPr algn="l" marL="771877" indent="-385938" lvl="1">
              <a:lnSpc>
                <a:spcPts val="3932"/>
              </a:lnSpc>
              <a:buFont typeface="Arial"/>
              <a:buChar char="•"/>
            </a:pPr>
            <a:r>
              <a:rPr lang="en-US" sz="3575" spc="7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Real-time feedback during analysis</a:t>
            </a:r>
          </a:p>
          <a:p>
            <a:pPr algn="l" marL="771877" indent="-385938" lvl="1">
              <a:lnSpc>
                <a:spcPts val="3932"/>
              </a:lnSpc>
              <a:buFont typeface="Arial"/>
              <a:buChar char="•"/>
            </a:pPr>
            <a:r>
              <a:rPr lang="en-US" sz="3575" spc="7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Safety tips and contextual recommendations</a:t>
            </a:r>
          </a:p>
          <a:p>
            <a:pPr algn="l">
              <a:lnSpc>
                <a:spcPts val="39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59437" y="3948017"/>
            <a:ext cx="3946102" cy="53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6"/>
              </a:lnSpc>
              <a:spcBef>
                <a:spcPct val="0"/>
              </a:spcBef>
            </a:pPr>
            <a:r>
              <a:rPr lang="en-US" b="true" sz="3190" spc="63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12159" y="3948017"/>
            <a:ext cx="406445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USABILITY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74067" y="2438876"/>
            <a:ext cx="1443898" cy="1443898"/>
          </a:xfrm>
          <a:custGeom>
            <a:avLst/>
            <a:gdLst/>
            <a:ahLst/>
            <a:cxnLst/>
            <a:rect r="r" b="b" t="t" l="l"/>
            <a:pathLst>
              <a:path h="1443898" w="1443898">
                <a:moveTo>
                  <a:pt x="0" y="0"/>
                </a:moveTo>
                <a:lnTo>
                  <a:pt x="1443898" y="0"/>
                </a:lnTo>
                <a:lnTo>
                  <a:pt x="1443898" y="1443898"/>
                </a:lnTo>
                <a:lnTo>
                  <a:pt x="0" y="1443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18808" y="2419593"/>
            <a:ext cx="1451154" cy="1374969"/>
          </a:xfrm>
          <a:custGeom>
            <a:avLst/>
            <a:gdLst/>
            <a:ahLst/>
            <a:cxnLst/>
            <a:rect r="r" b="b" t="t" l="l"/>
            <a:pathLst>
              <a:path h="1374969" w="1451154">
                <a:moveTo>
                  <a:pt x="0" y="0"/>
                </a:moveTo>
                <a:lnTo>
                  <a:pt x="1451155" y="0"/>
                </a:lnTo>
                <a:lnTo>
                  <a:pt x="1451155" y="1374969"/>
                </a:lnTo>
                <a:lnTo>
                  <a:pt x="0" y="1374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028700"/>
            <a:ext cx="15815726" cy="893123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0946" y="152400"/>
            <a:ext cx="161877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 spc="12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DEMONSTRATION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41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969" y="5201667"/>
            <a:ext cx="16630062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70257" y="6740525"/>
            <a:ext cx="82763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Links in disguise lead to surprise!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103817" y="893640"/>
            <a:ext cx="4440527" cy="3180527"/>
          </a:xfrm>
          <a:custGeom>
            <a:avLst/>
            <a:gdLst/>
            <a:ahLst/>
            <a:cxnLst/>
            <a:rect r="r" b="b" t="t" l="l"/>
            <a:pathLst>
              <a:path h="3180527" w="4440527">
                <a:moveTo>
                  <a:pt x="0" y="0"/>
                </a:moveTo>
                <a:lnTo>
                  <a:pt x="4440527" y="0"/>
                </a:lnTo>
                <a:lnTo>
                  <a:pt x="4440527" y="3180527"/>
                </a:lnTo>
                <a:lnTo>
                  <a:pt x="0" y="318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09443" y="4293617"/>
            <a:ext cx="7737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</a:pPr>
            <a:r>
              <a:rPr lang="en-US" b="true" sz="2499" spc="124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THINK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895260" y="8026146"/>
            <a:ext cx="737744" cy="801896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1500207" y="2113017"/>
            <a:ext cx="5582867" cy="5582867"/>
          </a:xfrm>
          <a:custGeom>
            <a:avLst/>
            <a:gdLst/>
            <a:ahLst/>
            <a:cxnLst/>
            <a:rect r="r" b="b" t="t" l="l"/>
            <a:pathLst>
              <a:path h="5582867" w="5582867">
                <a:moveTo>
                  <a:pt x="0" y="0"/>
                </a:moveTo>
                <a:lnTo>
                  <a:pt x="5582868" y="0"/>
                </a:lnTo>
                <a:lnTo>
                  <a:pt x="5582868" y="5582867"/>
                </a:lnTo>
                <a:lnTo>
                  <a:pt x="0" y="5582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104" y="2940054"/>
            <a:ext cx="9956808" cy="534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148" indent="-331574" lvl="1">
              <a:lnSpc>
                <a:spcPts val="4300"/>
              </a:lnSpc>
              <a:buFont typeface="Arial"/>
              <a:buChar char="•"/>
            </a:pPr>
            <a:r>
              <a:rPr lang="en-US" sz="3071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The project delivers a robust phishing detection system using advanced ML and DL techniques.</a:t>
            </a:r>
          </a:p>
          <a:p>
            <a:pPr algn="l">
              <a:lnSpc>
                <a:spcPts val="4300"/>
              </a:lnSpc>
            </a:pPr>
          </a:p>
          <a:p>
            <a:pPr algn="l" marL="663148" indent="-331574" lvl="1">
              <a:lnSpc>
                <a:spcPts val="4300"/>
              </a:lnSpc>
              <a:buFont typeface="Arial"/>
              <a:buChar char="•"/>
            </a:pPr>
            <a:r>
              <a:rPr lang="en-US" sz="3071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LightGBM achieve highest metrics with proper preprocessing and feature selection.</a:t>
            </a:r>
          </a:p>
          <a:p>
            <a:pPr algn="l">
              <a:lnSpc>
                <a:spcPts val="4300"/>
              </a:lnSpc>
            </a:pPr>
          </a:p>
          <a:p>
            <a:pPr algn="l" marL="663148" indent="-331574" lvl="1">
              <a:lnSpc>
                <a:spcPts val="4300"/>
              </a:lnSpc>
              <a:buFont typeface="Arial"/>
              <a:buChar char="•"/>
            </a:pPr>
            <a:r>
              <a:rPr lang="en-US" sz="3071" spc="61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A user-friendly, scalable dashboard enhances accessibility and real-time detection.</a:t>
            </a:r>
          </a:p>
          <a:p>
            <a:pPr algn="l">
              <a:lnSpc>
                <a:spcPts val="4300"/>
              </a:lnSpc>
            </a:pPr>
          </a:p>
          <a:p>
            <a:pPr algn="l" marL="0" indent="0" lvl="0">
              <a:lnSpc>
                <a:spcPts val="396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633004" y="8107054"/>
            <a:ext cx="445007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true">
                <a:solidFill>
                  <a:srgbClr val="DBF3F7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Remember : No system is highly resilient — so always, think twice before you click!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0745" y="806865"/>
            <a:ext cx="10563527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IN CONCLUSION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92612" y="9166767"/>
            <a:ext cx="1027603" cy="99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1016" y="4157795"/>
            <a:ext cx="13130708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 FOR YOUR ATTENTION 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8215" y="7111280"/>
            <a:ext cx="827631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If you have any questions</a:t>
            </a:r>
          </a:p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Please do not hesitate to ask</a:t>
            </a:r>
          </a:p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We will be readily available to assist you.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72908" y="541820"/>
            <a:ext cx="4811674" cy="2586275"/>
          </a:xfrm>
          <a:custGeom>
            <a:avLst/>
            <a:gdLst/>
            <a:ahLst/>
            <a:cxnLst/>
            <a:rect r="r" b="b" t="t" l="l"/>
            <a:pathLst>
              <a:path h="2586275" w="4811674">
                <a:moveTo>
                  <a:pt x="0" y="0"/>
                </a:moveTo>
                <a:lnTo>
                  <a:pt x="4811674" y="0"/>
                </a:lnTo>
                <a:lnTo>
                  <a:pt x="4811674" y="2586275"/>
                </a:lnTo>
                <a:lnTo>
                  <a:pt x="0" y="2586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2151688" y="3613870"/>
            <a:ext cx="149154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151688" y="6673130"/>
            <a:ext cx="149154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092612" y="9166767"/>
            <a:ext cx="1027603" cy="204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31"/>
              </a:lnSpc>
              <a:spcBef>
                <a:spcPct val="0"/>
              </a:spcBef>
            </a:pPr>
            <a:r>
              <a:rPr lang="en-US" b="true" sz="5306" spc="265">
                <a:solidFill>
                  <a:srgbClr val="F6E7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44</a:t>
            </a:r>
          </a:p>
          <a:p>
            <a:pPr algn="ctr">
              <a:lnSpc>
                <a:spcPts val="83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DAGlHBZP1Po</dc:identifier>
  <dcterms:modified xsi:type="dcterms:W3CDTF">2011-08-01T06:04:30Z</dcterms:modified>
  <cp:revision>1</cp:revision>
  <dc:title>URL Phishing Detection using Machine Learning</dc:title>
</cp:coreProperties>
</file>